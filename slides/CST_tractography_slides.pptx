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5486400" cy="54864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CST トラクトグラフィー</a:t>
            </a:r>
          </a:p>
          <a:p>
            <a:pPr algn="l"/>
            <a:r>
              <a:rPr sz="4000" b="1">
                <a:solidFill>
                  <a:srgbClr val="35C7EC"/>
                </a:solidFill>
                <a:latin typeface="Yu Gothic"/>
                <a:ea typeface="Yu Gothic"/>
              </a:rPr>
              <a:t>解析手順まとめ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0916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>
                <a:solidFill>
                  <a:srgbClr val="CFDDEA"/>
                </a:solidFill>
                <a:latin typeface="Yu Gothic"/>
                <a:ea typeface="Yu Gothic"/>
              </a:rPr>
              <a:t>皮質脊髄路 (Corticospinal Tract) を MRtrix3 で抽出する</a:t>
            </a:r>
          </a:p>
          <a:p>
            <a:pPr algn="l"/>
            <a:r>
              <a:rPr sz="1500">
                <a:solidFill>
                  <a:srgbClr val="9DB4C8"/>
                </a:solidFill>
                <a:latin typeface="Yu Gothic"/>
                <a:ea typeface="Yu Gothic"/>
              </a:rPr>
              <a:t>DWI → 全脳トラクト生成 → ROI による絞り込み → 可視化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300">
                <a:solidFill>
                  <a:srgbClr val="7F96AB"/>
                </a:solidFill>
                <a:latin typeface="Yu Gothic"/>
                <a:ea typeface="Yu Gothic"/>
              </a:rPr>
              <a:t>2026-06-16  /  Tutorial: MRI/DWI/CST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23157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はじめに — CST と本資料のゴール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F6FB2"/>
                </a:solidFill>
                <a:latin typeface="Yu Gothic"/>
                <a:ea typeface="Yu Gothic"/>
              </a:rPr>
              <a:t>皮質脊髄路 (CST) とは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B242E"/>
                </a:solidFill>
                <a:latin typeface="Yu Gothic"/>
                <a:ea typeface="Yu Gothic"/>
              </a:rPr>
              <a:t>一次運動野 (M1) から脊髄へ運動指令を伝える主要な下行性伝導路。随意運動の中枢で、解剖学的に明確な走行をもつ。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F6FB2"/>
                </a:solidFill>
                <a:latin typeface="Yu Gothic"/>
                <a:ea typeface="Yu Gothic"/>
              </a:rPr>
              <a:t>本資料のゴール</a:t>
            </a: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B242E"/>
                </a:solidFill>
                <a:latin typeface="Yu Gothic"/>
                <a:ea typeface="Yu Gothic"/>
              </a:rPr>
              <a:t>拡散強調画像 (DWI) から CST のみを抽出し、3D トラクトグラフィーとして可視化する一連の手順を再現できるようにする。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5029200" cy="484632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CST の通過域（上 → 下）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297680" cy="54864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14884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M1 hand（一次運動野・手領域）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2862072"/>
            <a:ext cx="4297680" cy="548640"/>
          </a:xfrm>
          <a:prstGeom prst="roundRect">
            <a:avLst>
              <a:gd name="adj" fmla="val 50000"/>
            </a:avLst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862072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Internal capsule（内包）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575304"/>
            <a:ext cx="4297680" cy="54864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3575304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Cerebral peduncle（大脳脚）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288536"/>
            <a:ext cx="4297680" cy="548640"/>
          </a:xfrm>
          <a:prstGeom prst="roundRect">
            <a:avLst>
              <a:gd name="adj" fmla="val 50000"/>
            </a:avLst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4288536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Pons（橋）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5001768"/>
            <a:ext cx="4297680" cy="54864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5001768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  <a:ea typeface="Yu Gothic"/>
              </a:rPr>
              <a:t>Medulla（延髄）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23157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全体ワークフロー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データ準備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OSF から 5tt / wmfod_norm / T1_coreg を取得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mrview で表示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T1 を開き overlay を重ねて確認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ROI を描く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CST 通過域を塗り ROI Editor で保存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全脳トラクト生成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tckgen で 100万本のストリームライン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177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ROI で絞り込み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tckedit で CST のみ抽出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可視化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全神経 → CST のみ を表示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データ準備（OSF Storage）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必要なファイルを取得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OSF Storage から解析に使う .mif を作業フォルダへ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5tt_coreg.mif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5組織タイプ分割（解剖学的拘束用）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wmfod_norm.mif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正規化済み白質 FOD（トラクト生成の方向場）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T1_coreg.mif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DWI と位置合わせ済みの T1 構造画像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作業ディレクトリ: .../Tutrial/MRI/DWI/CST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OSF Storage 画面のスクショ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mrview で表示する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作業フォルダへ移動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ターミナルで対象ディレクトリへ cd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mrview で T1 を開く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構造画像を背景として表示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overlay を重ねる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Tool → Overlay から FOD などを重畳して確認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81144"/>
            <a:ext cx="5212080" cy="1225295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727448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727448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727448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65192"/>
            <a:ext cx="484632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cd /Users/.../Tutrial/MRI/DWI/CST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mrview T1_coreg.mif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フルパスでファイルを指定して mrview を起動する。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mrview / overlay のスクショ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ROI を描く（ROI Editor）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474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CST の通過域を塗る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mrview の ROI Editor で各通過域をマスクとして描画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名前をつけて保存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領域ごとに &lt;領域&gt;_L.mif として書き出す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解剖の参照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Kandel『Principles of Neural Science』の図を参照して位置決め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5212080" cy="41148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27432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ROI ファイル名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16052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解剖部位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Medulla_L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延髄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37760"/>
            <a:ext cx="5212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Pons_L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9377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0352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Cerebral_peduncle_L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30352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大脳脚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69280"/>
            <a:ext cx="5212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Internal_capsule_L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内包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03504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03504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M1_hand_L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03504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一次運動野(手)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ROI Editor / カンデル図のスクショ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全脳トラクト生成（tckgen）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text editor でスクリプト作成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tckgen_CST_L という名前でコマンドを記述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シード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gmwmSeed_coreg.mif（灰白質-白質境界）から発生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ストリームライン数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-select 1000000（100万本）を生成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出力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tracks_10bil.tck（全脳トラクト）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81144"/>
            <a:ext cx="5212080" cy="1225295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727448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727448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727448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65192"/>
            <a:ext cx="484632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tckgen gmwmSeed_coreg.mif -select 1000000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     wmfod_norm.mif tracks_10bil.tck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まずは全脳のストリームラインをまとめて生成しておく。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text editor / コマンド記述のスクショ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ROI で絞り込む（tckedit）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include で通過条件を指定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5つの ROI を全て通る神経だけを残す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入力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tracks_10bil.tck（全脳トラクト）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出力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tracks_CST.tck（CST のみ）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実行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bash でスクリプトを指定して走らせる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123943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123943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123943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61687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tckedit -include Medulla_L.mif -include Pons_L.mif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-include Cerebral_peduncle_L.mif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-include Internal_capsule_L.mif -include M1_hand_L.mif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tracks_10bil.tck tracks_CST.tck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bash .../CST/tckgen_CST_L.sh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ターミナル実行のスクショ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6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可視化：全ての神経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Tractography を選択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mrview の Tool → Tractography を開く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Run で得た2ファイルを読み込む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生成したトラクトを表示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結果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脳全体の神経線維（全トラクト）が見える図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まずは絞り込み前の全神経を確認する。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全トラクト表示のスクショ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6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可視化：CST のみ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選んだ領域だけを通る神経を表示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ROI を全て通過するトラクトのみにチェック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結果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選んだ通過域を通る神経 ＝ CST だけが表示される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確認ポイント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M1 から延髄まで連続して走行しているか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tracks_CST.tck を読み込むと CST のみが描出される。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E6ECF2"/>
          </a:solidFill>
          <a:ln w="1587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325880"/>
            <a:ext cx="5440680" cy="4937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>
                <a:solidFill>
                  <a:srgbClr val="B4C2D0"/>
                </a:solidFill>
                <a:latin typeface="Yu Gothic"/>
                <a:ea typeface="Yu Gothic"/>
              </a:rPr>
              <a:t>🖼</a:t>
            </a:r>
          </a:p>
          <a:p>
            <a:pPr algn="ctr"/>
            <a:r>
              <a:rPr sz="1300" b="1">
                <a:solidFill>
                  <a:srgbClr val="5A6B7B"/>
                </a:solidFill>
                <a:latin typeface="Yu Gothic"/>
                <a:ea typeface="Yu Gothic"/>
              </a:rPr>
              <a:t>CST のみ表示のスクショ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  <a:ea typeface="Yu Gothic"/>
              </a:rPr>
              <a:t>まとめ &amp; 次のステップ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35C7EC"/>
                </a:solidFill>
                <a:latin typeface="Yu Gothic"/>
                <a:ea typeface="Yu Gothic"/>
              </a:rPr>
              <a:t>手順サマリ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① データ準備 → ② mrview 表示 → ③ ROI 描画 →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④ tckgen で全脳トラクト → ⑤ tckedit で CST 抽出 →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⑥ Tractography で可視化（全神経 → CST のみ）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554480"/>
            <a:ext cx="5120640" cy="4572000"/>
          </a:xfrm>
          <a:prstGeom prst="roundRect">
            <a:avLst>
              <a:gd name="adj" fmla="val 4000"/>
            </a:avLst>
          </a:prstGeom>
          <a:solidFill>
            <a:srgbClr val="1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783080"/>
            <a:ext cx="45720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35C7EC"/>
                </a:solidFill>
                <a:latin typeface="Yu Gothic"/>
                <a:ea typeface="Yu Gothic"/>
              </a:rPr>
              <a:t>🛠 壁打ちポイント（要確認）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  <a:latin typeface="Yu Gothic"/>
                <a:ea typeface="Yu Gothic"/>
              </a:rPr>
              <a:t>・スクショ差し込み：別ファイルの全スクリーンショットを各手順へ配置（プレースホルダ枠を用意済み）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  <a:latin typeface="Yu Gothic"/>
                <a:ea typeface="Yu Gothic"/>
              </a:rPr>
              <a:t>・左右の別：今回は _L（左）。右側 CST も作るか？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>
                <a:solidFill>
                  <a:srgbClr val="FFFFFF"/>
                </a:solidFill>
                <a:latin typeface="Yu Gothic"/>
                <a:ea typeface="Yu Gothic"/>
              </a:rPr>
              <a:t>・コマンドの正確なオプション（mask/角度閾値等）を追記するか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Yu Gothic"/>
                <a:ea typeface="Yu Gothic"/>
              </a:rPr>
              <a:t>・対象者/発表時間に合わせて枚数・粒度を調整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