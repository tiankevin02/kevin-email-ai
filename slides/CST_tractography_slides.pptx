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5486400" cy="54864"/>
          </a:xfrm>
          <a:prstGeom prst="rect">
            <a:avLst/>
          </a:prstGeom>
          <a:solidFill>
            <a:srgbClr val="009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2377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Yu Gothic"/>
                <a:ea typeface="Yu Gothic"/>
              </a:rPr>
              <a:t>CST トラクトグラフィー</a:t>
            </a:r>
          </a:p>
          <a:p>
            <a:pPr algn="l"/>
            <a:r>
              <a:rPr sz="4000" b="1">
                <a:solidFill>
                  <a:srgbClr val="35C7EC"/>
                </a:solidFill>
                <a:latin typeface="Yu Gothic"/>
                <a:ea typeface="Yu Gothic"/>
              </a:rPr>
              <a:t>解析手順まとめ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709160"/>
            <a:ext cx="10058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>
                <a:solidFill>
                  <a:srgbClr val="CFDDEA"/>
                </a:solidFill>
                <a:latin typeface="Yu Gothic"/>
                <a:ea typeface="Yu Gothic"/>
              </a:rPr>
              <a:t>皮質脊髄路 (Corticospinal Tract) を MRtrix3 で抽出する</a:t>
            </a:r>
          </a:p>
          <a:p>
            <a:pPr algn="l"/>
            <a:r>
              <a:rPr sz="1500">
                <a:solidFill>
                  <a:srgbClr val="9DB4C8"/>
                </a:solidFill>
                <a:latin typeface="Yu Gothic"/>
                <a:ea typeface="Yu Gothic"/>
              </a:rPr>
              <a:t>DWI → 全脳トラクト生成 → ROI による絞り込み → 可視化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300">
                <a:solidFill>
                  <a:srgbClr val="7F96AB"/>
                </a:solidFill>
                <a:latin typeface="Yu Gothic"/>
                <a:ea typeface="Yu Gothic"/>
              </a:rPr>
              <a:t>2026-06-16  /  Tutorial: MRI/DWI/CST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23157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はじめに — CST と本資料のゴール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F6FB2"/>
                </a:solidFill>
                <a:latin typeface="Yu Gothic"/>
                <a:ea typeface="Yu Gothic"/>
              </a:rPr>
              <a:t>皮質脊髄路 (CST) とは</a:t>
            </a:r>
          </a:p>
          <a:p>
            <a:pPr algn="l"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B242E"/>
                </a:solidFill>
                <a:latin typeface="Yu Gothic"/>
                <a:ea typeface="Yu Gothic"/>
              </a:rPr>
              <a:t>一次運動野 (M1) から脊髄へ運動指令を伝える主要な下行性伝導路。随意運動の中枢で、解剖学的に明確な走行をもつ。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F6FB2"/>
                </a:solidFill>
                <a:latin typeface="Yu Gothic"/>
                <a:ea typeface="Yu Gothic"/>
              </a:rPr>
              <a:t>本資料のゴール</a:t>
            </a:r>
          </a:p>
          <a:p>
            <a:pPr algn="l">
              <a:lnSpc>
                <a:spcPct val="125000"/>
              </a:lnSpc>
            </a:pPr>
            <a:r>
              <a:rPr sz="1600">
                <a:solidFill>
                  <a:srgbClr val="1B242E"/>
                </a:solidFill>
                <a:latin typeface="Yu Gothic"/>
                <a:ea typeface="Yu Gothic"/>
              </a:rPr>
              <a:t>拡散強調画像 (DWI) から CST のみを抽出し、3D トラクトグラフィーとして可視化する一連の手順を再現できるようにする。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371600"/>
            <a:ext cx="49377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481328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/>
            <a:r>
              <a:rPr sz="1500" b="1">
                <a:solidFill>
                  <a:srgbClr val="162A47"/>
                </a:solidFill>
                <a:latin typeface="Yu Gothic"/>
                <a:ea typeface="Yu Gothic"/>
              </a:rPr>
              <a:t>CST の走行（Kandel 図）</a:t>
            </a:r>
          </a:p>
        </p:txBody>
      </p:sp>
      <p:pic>
        <p:nvPicPr>
          <p:cNvPr id="10" name="Picture 9" descr="shot_kan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451" y="1874519"/>
            <a:ext cx="2861977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074920"/>
            <a:ext cx="566928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B2"/>
                </a:solidFill>
                <a:latin typeface="Yu Gothic"/>
                <a:ea typeface="Yu Gothic"/>
              </a:rPr>
              <a:t>CST の通過域（上 → 下）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B242E"/>
                </a:solidFill>
                <a:latin typeface="Yu Gothic"/>
                <a:ea typeface="Yu Gothic"/>
              </a:rPr>
              <a:t>M1 hand（一次運動野）→ Internal capsule（内包）→ Midbrain（中脳） → Pons（橋）→ Medulla（延髄）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1123157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全体ワークフロー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6459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6733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データ準備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OSF から 5tt / wmfod_norm / T1_coreg を取得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173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16733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mrview で表示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688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T1 を開き overlay を重ねて確認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173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03920" y="16459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16459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16733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ROI を描く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4688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CST 通過域を塗り ROI Editor で保存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319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1605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1605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1879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全脳トラクト生成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834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tckgen で 100万本のストリームライン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39319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17720" y="41605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41605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41879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ROI で絞り込み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9834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tckedit で CST のみ抽出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3931920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2F6FA"/>
          </a:solidFill>
          <a:ln w="9525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03920" y="4160520"/>
            <a:ext cx="640080" cy="640080"/>
          </a:xfrm>
          <a:prstGeom prst="ellipse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03920" y="4160520"/>
            <a:ext cx="6400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4187952"/>
            <a:ext cx="237744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800" b="1">
                <a:solidFill>
                  <a:srgbClr val="162A47"/>
                </a:solidFill>
                <a:latin typeface="Yu Gothic"/>
                <a:ea typeface="Yu Gothic"/>
              </a:rPr>
              <a:t>可視化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983480"/>
            <a:ext cx="301752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>
                <a:solidFill>
                  <a:srgbClr val="5A6B7B"/>
                </a:solidFill>
                <a:latin typeface="Yu Gothic"/>
                <a:ea typeface="Yu Gothic"/>
              </a:rPr>
              <a:t>全神経 → CST のみ を表示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データ準備（OSF Storage）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必要なファイルを取得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OSF Storage から解析に使う .mif を作業フォルダへ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5tt_coreg.mif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5組織タイプ分割（解剖学的拘束用）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wmfod_norm.mif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正規化済み白質 FOD（トラクト生成の方向場）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T1_coreg.mif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DWI と位置合わせ済みの T1 構造画像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作業ディレクトリ: .../Tutrial/MRI/DWI/CST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ot_os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058472"/>
            <a:ext cx="5257800" cy="1088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OSF Storage から .mif をダウンロード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mrview で表示する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作業フォルダへ移動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ターミナルで対象ディレクトリへ cd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mrview で T1 を開く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構造画像を背景として表示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overlay を重ねる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Tool → Overlay から FOD などを重畳して確認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81144"/>
            <a:ext cx="5212080" cy="1225295"/>
          </a:xfrm>
          <a:prstGeom prst="roundRect">
            <a:avLst>
              <a:gd name="adj" fmla="val 4000"/>
            </a:avLst>
          </a:prstGeom>
          <a:solidFill>
            <a:srgbClr val="1E2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4727448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4727448"/>
            <a:ext cx="109728" cy="10972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07008" y="4727448"/>
            <a:ext cx="109728" cy="10972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965192"/>
            <a:ext cx="484632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cd /Users/.../Tutrial/MRI/DWI/CST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mrview T1_coreg.mif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フルパスでファイルを指定して mrview を起動する。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_mrview_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99218"/>
            <a:ext cx="5257800" cy="36070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mrview で T1_coreg.mif を表示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ROI を描く（ROI Editor）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474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CST の通過域を塗る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mrview の ROI Editor で各通過域をマスクとして描画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名前をつけて保存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領域ごとに &lt;領域&gt;_L.mif として書き出す</a:t>
            </a:r>
          </a:p>
          <a:p>
            <a:pPr algn="l"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解剖の参照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Kandel『Principles of Neural Science』の図を参照して位置決め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5212080" cy="41148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274320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ROI ファイル名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160520"/>
            <a:ext cx="210312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Yu Gothic"/>
                <a:ea typeface="Yu Gothic"/>
              </a:rPr>
              <a:t>解剖部位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572000"/>
            <a:ext cx="5212080" cy="365760"/>
          </a:xfrm>
          <a:prstGeom prst="rect">
            <a:avLst/>
          </a:prstGeom>
          <a:solidFill>
            <a:srgbClr val="F2F6FA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M1_hand_L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57200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一次運動野(手)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37760"/>
            <a:ext cx="52120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Internal_capsule_L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93776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内包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03520"/>
            <a:ext cx="5212080" cy="365760"/>
          </a:xfrm>
          <a:prstGeom prst="rect">
            <a:avLst/>
          </a:prstGeom>
          <a:solidFill>
            <a:srgbClr val="F2F6FA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Midbrain_L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30352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中脳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669280"/>
            <a:ext cx="521208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66928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Pons_L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035040"/>
            <a:ext cx="5212080" cy="365760"/>
          </a:xfrm>
          <a:prstGeom prst="rect">
            <a:avLst/>
          </a:prstGeom>
          <a:solidFill>
            <a:srgbClr val="F2F6FA"/>
          </a:solidFill>
          <a:ln w="635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035040"/>
            <a:ext cx="28346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1B242E"/>
                </a:solidFill>
                <a:latin typeface="Consolas"/>
                <a:ea typeface="Consolas"/>
              </a:rPr>
              <a:t>Medulla_L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6035040"/>
            <a:ext cx="21031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5A6B7B"/>
                </a:solidFill>
                <a:latin typeface="Yu Gothic"/>
                <a:ea typeface="Yu Gothic"/>
              </a:rPr>
              <a:t>延髄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hot_roi_edi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91640"/>
            <a:ext cx="5257800" cy="342219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mrview の ROI Editor（右に5つのROIを保存）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B6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6012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  <a:ea typeface="Yu Gothic"/>
              </a:rPr>
              <a:t>① 一次運動野・手領域（M1 hand）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7955279" cy="553212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 w="25400">
            <a:solidFill>
              <a:srgbClr val="3B6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i_M1_hand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309" y="1252728"/>
            <a:ext cx="6115620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1325880"/>
            <a:ext cx="3200400" cy="5120640"/>
          </a:xfrm>
          <a:prstGeom prst="roundRect">
            <a:avLst>
              <a:gd name="adj" fmla="val 5000"/>
            </a:avLst>
          </a:prstGeom>
          <a:solidFill>
            <a:srgbClr val="16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15400" y="1691640"/>
            <a:ext cx="411480" cy="411480"/>
          </a:xfrm>
          <a:prstGeom prst="ellipse">
            <a:avLst/>
          </a:prstGeom>
          <a:solidFill>
            <a:srgbClr val="3B6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40"/>
            <a:ext cx="21945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CFDDEA"/>
                </a:solidFill>
                <a:latin typeface="Yu Gothic"/>
                <a:ea typeface="Yu Gothic"/>
              </a:rPr>
              <a:t>ROI マーカー色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377440"/>
            <a:ext cx="265176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B6EF0"/>
                </a:solidFill>
                <a:latin typeface="Yu Gothic"/>
                <a:ea typeface="Yu Gothic"/>
              </a:rPr>
              <a:t>ファイル名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Consolas"/>
                <a:ea typeface="Consolas"/>
              </a:rPr>
              <a:t>M1_hand_L.mif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B6EF0"/>
                </a:solidFill>
                <a:latin typeface="Yu Gothic"/>
                <a:ea typeface="Yu Gothic"/>
              </a:rPr>
              <a:t>CST 上の位置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1 / 5　（上から1番目）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B6EF0"/>
                </a:solidFill>
                <a:latin typeface="Yu Gothic"/>
                <a:ea typeface="Yu Gothic"/>
              </a:rPr>
              <a:t>役割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CST の起始（最上流）。手の運動を司る皮質。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6012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  <a:ea typeface="Yu Gothic"/>
              </a:rPr>
              <a:t>② 内包（Internal capsule）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7955279" cy="553212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 w="25400">
            <a:solidFill>
              <a:srgbClr val="E09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i_Internal_capsule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54" y="1252728"/>
            <a:ext cx="7198731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1325880"/>
            <a:ext cx="3200400" cy="5120640"/>
          </a:xfrm>
          <a:prstGeom prst="roundRect">
            <a:avLst>
              <a:gd name="adj" fmla="val 5000"/>
            </a:avLst>
          </a:prstGeom>
          <a:solidFill>
            <a:srgbClr val="16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15400" y="1691640"/>
            <a:ext cx="411480" cy="411480"/>
          </a:xfrm>
          <a:prstGeom prst="ellipse">
            <a:avLst/>
          </a:prstGeom>
          <a:solidFill>
            <a:srgbClr val="E09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40"/>
            <a:ext cx="21945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CFDDEA"/>
                </a:solidFill>
                <a:latin typeface="Yu Gothic"/>
                <a:ea typeface="Yu Gothic"/>
              </a:rPr>
              <a:t>ROI マーカー色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377440"/>
            <a:ext cx="265176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09B3D"/>
                </a:solidFill>
                <a:latin typeface="Yu Gothic"/>
                <a:ea typeface="Yu Gothic"/>
              </a:rPr>
              <a:t>ファイル名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Consolas"/>
                <a:ea typeface="Consolas"/>
              </a:rPr>
              <a:t>Internal_capsule_L.mif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09B3D"/>
                </a:solidFill>
                <a:latin typeface="Yu Gothic"/>
                <a:ea typeface="Yu Gothic"/>
              </a:rPr>
              <a:t>CST 上の位置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2 / 5　（上から2番目）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E09B3D"/>
                </a:solidFill>
                <a:latin typeface="Yu Gothic"/>
                <a:ea typeface="Yu Gothic"/>
              </a:rPr>
              <a:t>役割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大脳深部の白質路。後脚を CST が通る。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6012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  <a:ea typeface="Yu Gothic"/>
              </a:rPr>
              <a:t>③ 中脳（Midbrain）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7955279" cy="553212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 w="25400">
            <a:solidFill>
              <a:srgbClr val="2F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i_Midbrain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54" y="1252728"/>
            <a:ext cx="7198731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1325880"/>
            <a:ext cx="3200400" cy="5120640"/>
          </a:xfrm>
          <a:prstGeom prst="roundRect">
            <a:avLst>
              <a:gd name="adj" fmla="val 5000"/>
            </a:avLst>
          </a:prstGeom>
          <a:solidFill>
            <a:srgbClr val="16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15400" y="1691640"/>
            <a:ext cx="411480" cy="411480"/>
          </a:xfrm>
          <a:prstGeom prst="ellipse">
            <a:avLst/>
          </a:prstGeom>
          <a:solidFill>
            <a:srgbClr val="2FC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40"/>
            <a:ext cx="21945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CFDDEA"/>
                </a:solidFill>
                <a:latin typeface="Yu Gothic"/>
                <a:ea typeface="Yu Gothic"/>
              </a:rPr>
              <a:t>ROI マーカー色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377440"/>
            <a:ext cx="265176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FC2D6"/>
                </a:solidFill>
                <a:latin typeface="Yu Gothic"/>
                <a:ea typeface="Yu Gothic"/>
              </a:rPr>
              <a:t>ファイル名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Consolas"/>
                <a:ea typeface="Consolas"/>
              </a:rPr>
              <a:t>Midbrain_L.mif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FC2D6"/>
                </a:solidFill>
                <a:latin typeface="Yu Gothic"/>
                <a:ea typeface="Yu Gothic"/>
              </a:rPr>
              <a:t>CST 上の位置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3 / 5　（上から3番目）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FC2D6"/>
                </a:solidFill>
                <a:latin typeface="Yu Gothic"/>
                <a:ea typeface="Yu Gothic"/>
              </a:rPr>
              <a:t>役割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中脳レベルの通過域（大脳脚を含む）。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6012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  <a:ea typeface="Yu Gothic"/>
              </a:rPr>
              <a:t>④ 橋（Pons）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7955279" cy="553212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 w="25400">
            <a:solidFill>
              <a:srgbClr val="4F8B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i_Pons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54" y="1252728"/>
            <a:ext cx="7198731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1325880"/>
            <a:ext cx="3200400" cy="5120640"/>
          </a:xfrm>
          <a:prstGeom prst="roundRect">
            <a:avLst>
              <a:gd name="adj" fmla="val 5000"/>
            </a:avLst>
          </a:prstGeom>
          <a:solidFill>
            <a:srgbClr val="16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15400" y="1691640"/>
            <a:ext cx="411480" cy="411480"/>
          </a:xfrm>
          <a:prstGeom prst="ellipse">
            <a:avLst/>
          </a:prstGeom>
          <a:solidFill>
            <a:srgbClr val="4F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40"/>
            <a:ext cx="21945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CFDDEA"/>
                </a:solidFill>
                <a:latin typeface="Yu Gothic"/>
                <a:ea typeface="Yu Gothic"/>
              </a:rPr>
              <a:t>ROI マーカー色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377440"/>
            <a:ext cx="265176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4F8BF5"/>
                </a:solidFill>
                <a:latin typeface="Yu Gothic"/>
                <a:ea typeface="Yu Gothic"/>
              </a:rPr>
              <a:t>ファイル名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Consolas"/>
                <a:ea typeface="Consolas"/>
              </a:rPr>
              <a:t>Pons_L.mif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4F8BF5"/>
                </a:solidFill>
                <a:latin typeface="Yu Gothic"/>
                <a:ea typeface="Yu Gothic"/>
              </a:rPr>
              <a:t>CST 上の位置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4 / 5　（上から4番目）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4F8BF5"/>
                </a:solidFill>
                <a:latin typeface="Yu Gothic"/>
                <a:ea typeface="Yu Gothic"/>
              </a:rPr>
              <a:t>役割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脳幹（橋）の通過域。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0"/>
            <a:ext cx="960120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  <a:ea typeface="Yu Gothic"/>
              </a:rPr>
              <a:t>⑤ 延髄（Medulla）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256032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7955279" cy="5532120"/>
          </a:xfrm>
          <a:prstGeom prst="roundRect">
            <a:avLst>
              <a:gd name="adj" fmla="val 2000"/>
            </a:avLst>
          </a:prstGeom>
          <a:solidFill>
            <a:srgbClr val="000000"/>
          </a:solidFill>
          <a:ln w="25400">
            <a:solidFill>
              <a:srgbClr val="8A6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i_Medulla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754" y="1252728"/>
            <a:ext cx="7198731" cy="53126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0" y="1325880"/>
            <a:ext cx="3200400" cy="5120640"/>
          </a:xfrm>
          <a:prstGeom prst="roundRect">
            <a:avLst>
              <a:gd name="adj" fmla="val 5000"/>
            </a:avLst>
          </a:prstGeom>
          <a:solidFill>
            <a:srgbClr val="16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15400" y="1691640"/>
            <a:ext cx="411480" cy="411480"/>
          </a:xfrm>
          <a:prstGeom prst="ellipse">
            <a:avLst/>
          </a:prstGeom>
          <a:solidFill>
            <a:srgbClr val="8A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40"/>
            <a:ext cx="2194560" cy="4114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200">
                <a:solidFill>
                  <a:srgbClr val="CFDDEA"/>
                </a:solidFill>
                <a:latin typeface="Yu Gothic"/>
                <a:ea typeface="Yu Gothic"/>
              </a:rPr>
              <a:t>ROI マーカー色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2377440"/>
            <a:ext cx="265176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6BE0"/>
                </a:solidFill>
                <a:latin typeface="Yu Gothic"/>
                <a:ea typeface="Yu Gothic"/>
              </a:rPr>
              <a:t>ファイル名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Consolas"/>
                <a:ea typeface="Consolas"/>
              </a:rPr>
              <a:t>Medulla_L.mif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8A6BE0"/>
                </a:solidFill>
                <a:latin typeface="Yu Gothic"/>
                <a:ea typeface="Yu Gothic"/>
              </a:rPr>
              <a:t>CST 上の位置</a:t>
            </a:r>
          </a:p>
          <a:p>
            <a:pPr algn="l">
              <a:spcAft>
                <a:spcPts val="1600"/>
              </a:spcAft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5 / 5　（上から5番目）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8A6BE0"/>
                </a:solidFill>
                <a:latin typeface="Yu Gothic"/>
                <a:ea typeface="Yu Gothic"/>
              </a:rPr>
              <a:t>役割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FFFFFF"/>
                </a:solidFill>
                <a:latin typeface="Yu Gothic"/>
                <a:ea typeface="Yu Gothic"/>
              </a:rPr>
              <a:t>脳幹下端（最下流）。錐体交叉の手前。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全脳トラクト生成（tckgen）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text editor でスクリプト作成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tckgen_CST_L という名前でコマンドを記述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シード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gmwmSeed_coreg.mif（灰白質-白質境界）から発生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ストリームライン数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-select 1000000（100万本）を生成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出力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tracks_10bil.tck（全脳トラクト）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81144"/>
            <a:ext cx="5212080" cy="1225295"/>
          </a:xfrm>
          <a:prstGeom prst="roundRect">
            <a:avLst>
              <a:gd name="adj" fmla="val 4000"/>
            </a:avLst>
          </a:prstGeom>
          <a:solidFill>
            <a:srgbClr val="1E2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4727448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4727448"/>
            <a:ext cx="109728" cy="10972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07008" y="4727448"/>
            <a:ext cx="109728" cy="10972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965192"/>
            <a:ext cx="484632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tckgen gmwmSeed_coreg.mif -select 1000000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     wmfod_norm.mif tracks_10bil.tck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入力の方向場 wmfod_norm.mif（下のスクショ）から発生させる。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_mrview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58017"/>
            <a:ext cx="5257800" cy="388943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入力FOD：wmfod_norm.mif を T1 に overlay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ROI で絞り込む（tckedit）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include で通過条件を指定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5つの ROI を全て通る神経だけを残す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入力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tracks_10bil.tck（全脳トラクト）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出力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tracks_CST.tck（CST のみ）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実行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bash でスクリプトを指定して走らせる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77639"/>
            <a:ext cx="5212080" cy="2377440"/>
          </a:xfrm>
          <a:prstGeom prst="roundRect">
            <a:avLst>
              <a:gd name="adj" fmla="val 4000"/>
            </a:avLst>
          </a:prstGeom>
          <a:solidFill>
            <a:srgbClr val="1E2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4123943"/>
            <a:ext cx="109728" cy="10972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4123943"/>
            <a:ext cx="109728" cy="10972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07008" y="4123943"/>
            <a:ext cx="109728" cy="10972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61687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tckedit -include M1_hand_L.mif -include Internal_capsule_L.mif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-include Midbrain_L.mif -include Pons_L.mif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-include Medulla_L.mif \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  tracks_10bil.tck tracks_CST.tck</a:t>
            </a:r>
          </a:p>
          <a:p>
            <a:pPr>
              <a:lnSpc>
                <a:spcPct val="110000"/>
              </a:lnSpc>
              <a:spcAft>
                <a:spcPts val="300"/>
              </a:spcAft>
            </a:pPr>
            <a:r>
              <a:rPr sz="1300" b="1">
                <a:solidFill>
                  <a:srgbClr val="35C7EC"/>
                </a:solidFill>
                <a:latin typeface="Consolas"/>
                <a:ea typeface="Consolas"/>
              </a:rPr>
              <a:t>$ </a:t>
            </a:r>
            <a:r>
              <a:rPr sz="1300" b="0">
                <a:solidFill>
                  <a:srgbClr val="CBE6FF"/>
                </a:solidFill>
                <a:latin typeface="Consolas"/>
                <a:ea typeface="Consolas"/>
              </a:rPr>
              <a:t>bash .../CST/tckgen_CST_L.sh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hot_roi_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139986"/>
            <a:ext cx="5257800" cy="9255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include する5つの ROI ファイル（Midbrain_L.mif 等）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6 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可視化：全ての神経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Tractography を選択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mrview の Tool → Tractography を開く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Run で得た2ファイルを読み込む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tracks_10bil.tck / tracks_CST.tck を選択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結果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脳全体の神経線維（全トラクト）が見える図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まずは絞り込み前の全神経を確認する。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ot_tracto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14622"/>
            <a:ext cx="5257800" cy="35762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全ての神経が見える図（方向色つき）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74320"/>
            <a:ext cx="1828800" cy="502920"/>
          </a:xfrm>
          <a:prstGeom prst="roundRect">
            <a:avLst>
              <a:gd name="adj" fmla="val 50000"/>
            </a:avLst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2880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600" b="1">
                <a:solidFill>
                  <a:srgbClr val="162A47"/>
                </a:solidFill>
                <a:latin typeface="Yu Gothic"/>
                <a:ea typeface="Yu Gothic"/>
              </a:rPr>
              <a:t>STEP 6 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0"/>
            <a:ext cx="9219895" cy="10515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Yu Gothic"/>
                <a:ea typeface="Yu Gothic"/>
              </a:rPr>
              <a:t>可視化：CST のみ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29260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200">
                <a:solidFill>
                  <a:srgbClr val="AFC6DB"/>
                </a:solidFill>
                <a:latin typeface="Yu Gothic"/>
                <a:ea typeface="Yu Gothic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1208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選んだ領域だけを通る神経を表示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ROI を全て通過するトラクトのみにチェック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結果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選んだ通過域を通る神経 ＝ CST だけが表示される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1F6FB2"/>
                </a:solidFill>
                <a:latin typeface="Yu Gothic"/>
                <a:ea typeface="Yu Gothic"/>
              </a:rPr>
              <a:t>●  確認ポイント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1B242E"/>
                </a:solidFill>
                <a:latin typeface="Yu Gothic"/>
                <a:ea typeface="Yu Gothic"/>
              </a:rPr>
              <a:t>     M1 から延髄まで連続して走行しているか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5212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5A6B7B"/>
                </a:solidFill>
                <a:latin typeface="Yu Gothic"/>
                <a:ea typeface="Yu Gothic"/>
              </a:rPr>
              <a:t>📝 tracks_CST.tck を読み込むと CST のみが描出される。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325880"/>
            <a:ext cx="5440680" cy="4937760"/>
          </a:xfrm>
          <a:prstGeom prst="roundRect">
            <a:avLst>
              <a:gd name="adj" fmla="val 3000"/>
            </a:avLst>
          </a:prstGeom>
          <a:solidFill>
            <a:srgbClr val="0A0F16"/>
          </a:solidFill>
          <a:ln w="12700">
            <a:solidFill>
              <a:srgbClr val="B4C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ot_tracto_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912179"/>
            <a:ext cx="5257800" cy="33811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6480" y="5879592"/>
            <a:ext cx="544068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150">
                <a:solidFill>
                  <a:srgbClr val="9DB4C8"/>
                </a:solidFill>
                <a:latin typeface="Yu Gothic"/>
                <a:ea typeface="Yu Gothic"/>
              </a:rPr>
              <a:t>Tractography で2ファイルを選択（tracks_CST.tck）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C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Yu Gothic"/>
                <a:ea typeface="Yu Gothic"/>
              </a:rPr>
              <a:t>まとめ &amp; 次のステップ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4572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35C7EC"/>
                </a:solidFill>
                <a:latin typeface="Yu Gothic"/>
                <a:ea typeface="Yu Gothic"/>
              </a:rPr>
              <a:t>手順サマリ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Yu Gothic"/>
                <a:ea typeface="Yu Gothic"/>
              </a:rPr>
              <a:t>① データ準備 → ② mrview 表示 → ③ ROI 描画 →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Yu Gothic"/>
                <a:ea typeface="Yu Gothic"/>
              </a:rPr>
              <a:t>④ tckgen で全脳トラクト → ⑤ tckedit で CST 抽出 →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FFFFFF"/>
                </a:solidFill>
                <a:latin typeface="Yu Gothic"/>
                <a:ea typeface="Yu Gothic"/>
              </a:rPr>
              <a:t>⑥ Tractography で可視化（全神経 → CST のみ）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554480"/>
            <a:ext cx="5120640" cy="4572000"/>
          </a:xfrm>
          <a:prstGeom prst="roundRect">
            <a:avLst>
              <a:gd name="adj" fmla="val 4000"/>
            </a:avLst>
          </a:prstGeom>
          <a:solidFill>
            <a:srgbClr val="1E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783080"/>
            <a:ext cx="45720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35C7EC"/>
                </a:solidFill>
                <a:latin typeface="Yu Gothic"/>
                <a:ea typeface="Yu Gothic"/>
              </a:rPr>
              <a:t>🛠 壁打ちポイント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Yu Gothic"/>
                <a:ea typeface="Yu Gothic"/>
              </a:rPr>
              <a:t>✓ スクショ反映済：OSF / mrview / ROI Editor / 端末 / Tractography をPDFから抽出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Yu Gothic"/>
                <a:ea typeface="Yu Gothic"/>
              </a:rPr>
              <a:t>✓ 中脳（Midbrain_L）に修正済（旧 Cerebral peduncle）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50">
                <a:solidFill>
                  <a:srgbClr val="FFFFFF"/>
                </a:solidFill>
                <a:latin typeface="Yu Gothic"/>
                <a:ea typeface="Yu Gothic"/>
              </a:rPr>
              <a:t>✓ 5つの ROI を1枚ずつ大きく掲載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50">
                <a:solidFill>
                  <a:srgbClr val="CFDDEA"/>
                </a:solidFill>
                <a:latin typeface="Yu Gothic"/>
                <a:ea typeface="Yu Gothic"/>
              </a:rPr>
              <a:t>・左右の別：今回は _L（左）。右側 CST も作るか？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CFDDEA"/>
                </a:solidFill>
                <a:latin typeface="Yu Gothic"/>
                <a:ea typeface="Yu Gothic"/>
              </a:rPr>
              <a:t>・CST のみの最終トラクト像が出たら差し替え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