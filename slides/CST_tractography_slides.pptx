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5486400" cy="54864"/>
          </a:xfrm>
          <a:prstGeom prst="rect">
            <a:avLst/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Yu Gothic"/>
                <a:ea typeface="Yu Gothic"/>
              </a:rPr>
              <a:t>CST トラクトグラフィー</a:t>
            </a:r>
          </a:p>
          <a:p>
            <a:pPr algn="l"/>
            <a:r>
              <a:rPr sz="4000" b="1">
                <a:solidFill>
                  <a:srgbClr val="35C7EC"/>
                </a:solidFill>
                <a:latin typeface="Yu Gothic"/>
                <a:ea typeface="Yu Gothic"/>
              </a:rPr>
              <a:t>解析手順まとめ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10058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CFDDEA"/>
                </a:solidFill>
                <a:latin typeface="Yu Gothic"/>
                <a:ea typeface="Yu Gothic"/>
              </a:rPr>
              <a:t>皮質脊髄路 (Corticospinal Tract) を MRtrix3 で抽出する</a:t>
            </a:r>
          </a:p>
          <a:p>
            <a:pPr algn="l"/>
            <a:r>
              <a:rPr sz="1500">
                <a:solidFill>
                  <a:srgbClr val="9DB4C8"/>
                </a:solidFill>
                <a:latin typeface="Yu Gothic"/>
                <a:ea typeface="Yu Gothic"/>
              </a:rPr>
              <a:t>DWI → 全脳トラクト生成 → ROI による絞り込み → 可視化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>
                <a:solidFill>
                  <a:srgbClr val="7F96AB"/>
                </a:solidFill>
                <a:latin typeface="Yu Gothic"/>
                <a:ea typeface="Yu Gothic"/>
              </a:rPr>
              <a:t>2026-06-16  /  Tutorial: MRI/DWI/CST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1123157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はじめに — CST と本資料のゴール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FB2"/>
                </a:solidFill>
                <a:latin typeface="Yu Gothic"/>
                <a:ea typeface="Yu Gothic"/>
              </a:rPr>
              <a:t>皮質脊髄路 (CST) とは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>
                <a:solidFill>
                  <a:srgbClr val="1B242E"/>
                </a:solidFill>
                <a:latin typeface="Yu Gothic"/>
                <a:ea typeface="Yu Gothic"/>
              </a:rPr>
              <a:t>一次運動野 (M1) から脊髄へ運動指令を伝える主要な下行性伝導路。随意運動の中枢で、解剖学的に明確な走行をもつ。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FB2"/>
                </a:solidFill>
                <a:latin typeface="Yu Gothic"/>
                <a:ea typeface="Yu Gothic"/>
              </a:rPr>
              <a:t>本資料のゴール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B242E"/>
                </a:solidFill>
                <a:latin typeface="Yu Gothic"/>
                <a:ea typeface="Yu Gothic"/>
              </a:rPr>
              <a:t>拡散強調画像 (DWI) から CST のみを抽出し、3D トラクトグラフィーとして可視化する一連の手順を再現できるようにする。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029200" cy="48463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CST の通過域（上 → 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48840"/>
            <a:ext cx="4297680" cy="54864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M1 hand（一次運動野・手領域）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862072"/>
            <a:ext cx="4297680" cy="548640"/>
          </a:xfrm>
          <a:prstGeom prst="roundRect">
            <a:avLst>
              <a:gd name="adj" fmla="val 50000"/>
            </a:avLst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62072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Internal capsule（内包）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575304"/>
            <a:ext cx="4297680" cy="54864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575304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Cerebral peduncle（大脳脚）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288536"/>
            <a:ext cx="4297680" cy="548640"/>
          </a:xfrm>
          <a:prstGeom prst="roundRect">
            <a:avLst>
              <a:gd name="adj" fmla="val 50000"/>
            </a:avLst>
          </a:prstGeom>
          <a:solidFill>
            <a:srgbClr val="00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288536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Pons（橋）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001768"/>
            <a:ext cx="4297680" cy="54864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001768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Medulla（延髄）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1123157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全体ワークフロー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733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データ準備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OSF から 5tt / wmfod_norm / T1_coreg を取得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6733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mrview で表示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T1 を開き overlay を重ねて確認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16459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6733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ROI を描く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CST 通過域を塗り ROI Editor で保存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319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1605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1879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全脳トラクト生成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tckgen で 100万本のストリームライン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9319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1879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ROI で絞り込み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834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tckedit で CST のみ抽出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93192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952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03920" y="4160520"/>
            <a:ext cx="640080" cy="64008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160520"/>
            <a:ext cx="640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187952"/>
            <a:ext cx="23774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162A47"/>
                </a:solidFill>
                <a:latin typeface="Yu Gothic"/>
                <a:ea typeface="Yu Gothic"/>
              </a:rPr>
              <a:t>可視化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983480"/>
            <a:ext cx="30175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5A6B7B"/>
                </a:solidFill>
                <a:latin typeface="Yu Gothic"/>
                <a:ea typeface="Yu Gothic"/>
              </a:rPr>
              <a:t>全神経 → CST のみ を表示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データ準備（OSF Storage）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必要なファイルを取得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OSF Storage から解析に使う .mif を作業フォルダへ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5tt_coreg.mif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5組織タイプ分割（解剖学的拘束用）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wmfod_norm.mif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正規化済み白質 FOD（トラクト生成の方向場）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T1_coreg.mif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DWI と位置合わせ済みの T1 構造画像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5A6B7B"/>
                </a:solidFill>
                <a:latin typeface="Yu Gothic"/>
                <a:ea typeface="Yu Gothic"/>
              </a:rPr>
              <a:t>📝 作業ディレクトリ: .../Tutrial/MRI/DWI/CST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OSF Storage 画面のスクショ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mrview で表示する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作業フォルダへ移動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ターミナルで対象ディレクトリへ cd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mrview で T1 を開く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構造画像を背景として表示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overlay を重ねる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Tool → Overlay から FOD などを重畳して確認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81144"/>
            <a:ext cx="5212080" cy="1225295"/>
          </a:xfrm>
          <a:prstGeom prst="roundRect">
            <a:avLst>
              <a:gd name="adj" fmla="val 4000"/>
            </a:avLst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472744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72744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472744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65192"/>
            <a:ext cx="484632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cd /Users/.../Tutrial/MRI/DWI/CST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mrview T1_coreg.mif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5A6B7B"/>
                </a:solidFill>
                <a:latin typeface="Yu Gothic"/>
                <a:ea typeface="Yu Gothic"/>
              </a:rPr>
              <a:t>📝 フルパスでファイルを指定して mrview を起動する。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mrview / overlay のスクショ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ROI を描く（ROI Editor）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474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CST の通過域を塗る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mrview の ROI Editor で各通過域をマスクとして描画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名前をつけて保存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領域ごとに &lt;領域&gt;_L.mif として書き出す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解剖の参照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Kandel『Principles of Neural Science』の図を参照して位置決め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5212080" cy="41148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7432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ROI ファイル名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16052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解剖部位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5212080" cy="365760"/>
          </a:xfrm>
          <a:prstGeom prst="rect">
            <a:avLst/>
          </a:prstGeom>
          <a:solidFill>
            <a:srgbClr val="F2F6FA"/>
          </a:solidFill>
          <a:ln w="6350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B242E"/>
                </a:solidFill>
                <a:latin typeface="Consolas"/>
                <a:ea typeface="Consolas"/>
              </a:rPr>
              <a:t>Medulla_L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>
                <a:solidFill>
                  <a:srgbClr val="5A6B7B"/>
                </a:solidFill>
                <a:latin typeface="Yu Gothic"/>
                <a:ea typeface="Yu Gothic"/>
              </a:rPr>
              <a:t>延髄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5212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B242E"/>
                </a:solidFill>
                <a:latin typeface="Consolas"/>
                <a:ea typeface="Consolas"/>
              </a:rPr>
              <a:t>Pons_L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>
                <a:solidFill>
                  <a:srgbClr val="5A6B7B"/>
                </a:solidFill>
                <a:latin typeface="Yu Gothic"/>
                <a:ea typeface="Yu Gothic"/>
              </a:rPr>
              <a:t>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03520"/>
            <a:ext cx="5212080" cy="365760"/>
          </a:xfrm>
          <a:prstGeom prst="rect">
            <a:avLst/>
          </a:prstGeom>
          <a:solidFill>
            <a:srgbClr val="F2F6FA"/>
          </a:solidFill>
          <a:ln w="6350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B242E"/>
                </a:solidFill>
                <a:latin typeface="Consolas"/>
                <a:ea typeface="Consolas"/>
              </a:rPr>
              <a:t>Cerebral_peduncle_L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0352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>
                <a:solidFill>
                  <a:srgbClr val="5A6B7B"/>
                </a:solidFill>
                <a:latin typeface="Yu Gothic"/>
                <a:ea typeface="Yu Gothic"/>
              </a:rPr>
              <a:t>大脳脚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69280"/>
            <a:ext cx="5212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B242E"/>
                </a:solidFill>
                <a:latin typeface="Consolas"/>
                <a:ea typeface="Consolas"/>
              </a:rPr>
              <a:t>Internal_capsule_L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>
                <a:solidFill>
                  <a:srgbClr val="5A6B7B"/>
                </a:solidFill>
                <a:latin typeface="Yu Gothic"/>
                <a:ea typeface="Yu Gothic"/>
              </a:rPr>
              <a:t>内包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035040"/>
            <a:ext cx="5212080" cy="365760"/>
          </a:xfrm>
          <a:prstGeom prst="rect">
            <a:avLst/>
          </a:prstGeom>
          <a:solidFill>
            <a:srgbClr val="F2F6FA"/>
          </a:solidFill>
          <a:ln w="6350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283464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B242E"/>
                </a:solidFill>
                <a:latin typeface="Consolas"/>
                <a:ea typeface="Consolas"/>
              </a:rPr>
              <a:t>M1_hand_L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035040"/>
            <a:ext cx="2103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>
                <a:solidFill>
                  <a:srgbClr val="5A6B7B"/>
                </a:solidFill>
                <a:latin typeface="Yu Gothic"/>
                <a:ea typeface="Yu Gothic"/>
              </a:rPr>
              <a:t>一次運動野(手)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ROI Editor 操作画面のスクショ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0"/>
            <a:ext cx="105156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塗った領域：5つの ROI（CST の通過域）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98448"/>
            <a:ext cx="3657600" cy="239572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3B6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84048" y="1298448"/>
            <a:ext cx="3657600" cy="457200"/>
          </a:xfrm>
          <a:prstGeom prst="round2SameRect">
            <a:avLst/>
          </a:prstGeom>
          <a:solidFill>
            <a:srgbClr val="3B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2064" y="143560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M1_hand_L   一次運動野・手領域</a:t>
            </a:r>
          </a:p>
        </p:txBody>
      </p:sp>
      <p:pic>
        <p:nvPicPr>
          <p:cNvPr id="11" name="Picture 10" descr="roi_M1_hand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09" y="1801368"/>
            <a:ext cx="2094678" cy="18196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70248" y="1298448"/>
            <a:ext cx="3657600" cy="239572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270248" y="1298448"/>
            <a:ext cx="3657600" cy="457200"/>
          </a:xfrm>
          <a:prstGeom prst="round2SameRect">
            <a:avLst/>
          </a:prstGeom>
          <a:solidFill>
            <a:srgbClr val="E09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8264" y="143560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1298448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Internal_capsule_L   内包</a:t>
            </a:r>
          </a:p>
        </p:txBody>
      </p:sp>
      <p:pic>
        <p:nvPicPr>
          <p:cNvPr id="16" name="Picture 15" descr="roi_Internal_capsul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219" y="1801368"/>
            <a:ext cx="2465658" cy="18196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56448" y="1298448"/>
            <a:ext cx="3657600" cy="239572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2FC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8156448" y="1298448"/>
            <a:ext cx="3657600" cy="457200"/>
          </a:xfrm>
          <a:prstGeom prst="round2SameRect">
            <a:avLst/>
          </a:prstGeom>
          <a:solidFill>
            <a:srgbClr val="2F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43560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1298448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Cerebral_peduncle_L   大脳脚</a:t>
            </a:r>
          </a:p>
        </p:txBody>
      </p:sp>
      <p:pic>
        <p:nvPicPr>
          <p:cNvPr id="21" name="Picture 20" descr="roi_Cerebral_peduncle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419" y="1801368"/>
            <a:ext cx="2465658" cy="181965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323947" y="3858768"/>
            <a:ext cx="3657600" cy="239572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3B6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2323947" y="3858768"/>
            <a:ext cx="3657600" cy="457200"/>
          </a:xfrm>
          <a:prstGeom prst="round2SameRect">
            <a:avLst/>
          </a:prstGeom>
          <a:solidFill>
            <a:srgbClr val="3B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51963" y="399592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7995" y="3858768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Pons_L   橋</a:t>
            </a:r>
          </a:p>
        </p:txBody>
      </p:sp>
      <p:pic>
        <p:nvPicPr>
          <p:cNvPr id="26" name="Picture 25" descr="roi_Pons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918" y="4361688"/>
            <a:ext cx="2465658" cy="181965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10147" y="3858768"/>
            <a:ext cx="3657600" cy="2395728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6A5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>
            <a:off x="6210147" y="3858768"/>
            <a:ext cx="3657600" cy="457200"/>
          </a:xfrm>
          <a:prstGeom prst="round2SameRect">
            <a:avLst/>
          </a:prstGeom>
          <a:solidFill>
            <a:srgbClr val="6A5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38163" y="399592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4195" y="3858768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Yu Gothic"/>
                <a:ea typeface="Yu Gothic"/>
              </a:rPr>
              <a:t>Medulla_L   延髄</a:t>
            </a:r>
          </a:p>
        </p:txBody>
      </p:sp>
      <p:pic>
        <p:nvPicPr>
          <p:cNvPr id="31" name="Picture 30" descr="roi_Medulla_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118" y="4361688"/>
            <a:ext cx="2465658" cy="1819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100">
                <a:solidFill>
                  <a:srgbClr val="9DB4C8"/>
                </a:solidFill>
                <a:latin typeface="Yu Gothic"/>
                <a:ea typeface="Yu Gothic"/>
              </a:rPr>
              <a:t>※ 各 ROI を mrview の ROI Editor で塗り、&lt;領域&gt;_L.mif として保存（解剖参照：Kandel）。脳幹3領域（大脳脚・橋・延髄）の対応は要確認。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全脳トラクト生成（tckgen）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text editor でスクリプト作成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tckgen_CST_L という名前でコマンドを記述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シード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gmwmSeed_coreg.mif（灰白質-白質境界）から発生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ストリームライン数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-select 1000000（100万本）を生成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出力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tracks_10bil.tck（全脳トラクト）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81144"/>
            <a:ext cx="5212080" cy="1225295"/>
          </a:xfrm>
          <a:prstGeom prst="roundRect">
            <a:avLst>
              <a:gd name="adj" fmla="val 4000"/>
            </a:avLst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472744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72744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472744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65192"/>
            <a:ext cx="484632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tckgen gmwmSeed_coreg.mif -select 1000000 \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       wmfod_norm.mif tracks_10bil.tck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5A6B7B"/>
                </a:solidFill>
                <a:latin typeface="Yu Gothic"/>
                <a:ea typeface="Yu Gothic"/>
              </a:rPr>
              <a:t>📝 まずは全脳のストリームラインをまとめて生成しておく。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text editor / コマンド記述のスクショ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ROI で絞り込む（tckedit）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include で通過条件を指定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5つの ROI を全て通る神経だけを残す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入力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tracks_10bil.tck（全脳トラクト）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出力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tracks_CST.tck（CST のみ）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実行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bash でスクリプトを指定して走らせる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1E2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4123943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123943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8" y="4123943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61687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tckedit -include Medulla_L.mif -include Pons_L.mif \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  -include Cerebral_peduncle_L.mif \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  -include Internal_capsule_L.mif -include M1_hand_L.mif \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  tracks_10bil.tck tracks_CST.tck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35C7EC"/>
                </a:solidFill>
                <a:latin typeface="Consolas"/>
                <a:ea typeface="Consolas"/>
              </a:rPr>
              <a:t>$ </a:t>
            </a:r>
            <a:r>
              <a:rPr sz="1300" b="0">
                <a:solidFill>
                  <a:srgbClr val="CBE6FF"/>
                </a:solidFill>
                <a:latin typeface="Consolas"/>
                <a:ea typeface="Consolas"/>
              </a:rPr>
              <a:t>bash .../CST/tckgen_CST_L.sh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ターミナル実行のスクショ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6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可視化：全ての神経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Tractography を選択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mrview の Tool → Tractography を開く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Run で得た2ファイルを読み込む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生成したトラクトを表示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結果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脳全体の神経線維（全トラクト）が見える図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5A6B7B"/>
                </a:solidFill>
                <a:latin typeface="Yu Gothic"/>
                <a:ea typeface="Yu Gothic"/>
              </a:rPr>
              <a:t>📝 まずは絞り込み前の全神経を確認する。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全トラクト表示のスクショ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743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162A47"/>
                </a:solidFill>
                <a:latin typeface="Yu Gothic"/>
                <a:ea typeface="Yu Gothic"/>
              </a:rPr>
              <a:t>STEP 6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0"/>
            <a:ext cx="9219895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可視化：CST のみ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29260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200">
                <a:solidFill>
                  <a:srgbClr val="AFC6DB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1208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選んだ領域だけを通る神経を表示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ROI を全て通過するトラクトのみにチェック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結果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選んだ通過域を通る神経 ＝ CST だけが表示される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F6FB2"/>
                </a:solidFill>
                <a:latin typeface="Yu Gothic"/>
                <a:ea typeface="Yu Gothic"/>
              </a:rPr>
              <a:t>●  確認ポイント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>
                <a:solidFill>
                  <a:srgbClr val="1B242E"/>
                </a:solidFill>
                <a:latin typeface="Yu Gothic"/>
                <a:ea typeface="Yu Gothic"/>
              </a:rPr>
              <a:t>     M1 から延髄まで連続して走行しているか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5A6B7B"/>
                </a:solidFill>
                <a:latin typeface="Yu Gothic"/>
                <a:ea typeface="Yu Gothic"/>
              </a:rPr>
              <a:t>📝 tracks_CST.tck を読み込むと CST のみが描出される。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5440680" cy="4937760"/>
          </a:xfrm>
          <a:prstGeom prst="roundRect">
            <a:avLst>
              <a:gd name="adj" fmla="val 3000"/>
            </a:avLst>
          </a:prstGeom>
          <a:solidFill>
            <a:srgbClr val="E6ECF2"/>
          </a:solidFill>
          <a:ln w="15875">
            <a:solidFill>
              <a:srgbClr val="B4C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5440680" cy="4937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>
                <a:solidFill>
                  <a:srgbClr val="B4C2D0"/>
                </a:solidFill>
                <a:latin typeface="Yu Gothic"/>
                <a:ea typeface="Yu Gothic"/>
              </a:rPr>
              <a:t>🖼</a:t>
            </a:r>
          </a:p>
          <a:p>
            <a:pPr algn="ctr"/>
            <a:r>
              <a:rPr sz="1300" b="1">
                <a:solidFill>
                  <a:srgbClr val="5A6B7B"/>
                </a:solidFill>
                <a:latin typeface="Yu Gothic"/>
                <a:ea typeface="Yu Gothic"/>
              </a:rPr>
              <a:t>CST のみ表示のスクショ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C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  <a:ea typeface="Yu Gothic"/>
              </a:rPr>
              <a:t>まとめ &amp; 次のステップ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35C7EC"/>
                </a:solidFill>
                <a:latin typeface="Yu Gothic"/>
                <a:ea typeface="Yu Gothic"/>
              </a:rPr>
              <a:t>手順サマリ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Yu Gothic"/>
                <a:ea typeface="Yu Gothic"/>
              </a:rPr>
              <a:t>① データ準備 → ② mrview 表示 → ③ ROI 描画 →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Yu Gothic"/>
                <a:ea typeface="Yu Gothic"/>
              </a:rPr>
              <a:t>④ tckgen で全脳トラクト → ⑤ tckedit で CST 抽出 →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FFFFFF"/>
                </a:solidFill>
                <a:latin typeface="Yu Gothic"/>
                <a:ea typeface="Yu Gothic"/>
              </a:rPr>
              <a:t>⑥ Tractography で可視化（全神経 → CST のみ）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E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35C7EC"/>
                </a:solidFill>
                <a:latin typeface="Yu Gothic"/>
                <a:ea typeface="Yu Gothic"/>
              </a:rPr>
              <a:t>🛠 壁打ちポイント（要確認）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Yu Gothic"/>
                <a:ea typeface="Yu Gothic"/>
              </a:rPr>
              <a:t>・スクショ差し込み：別ファイルの全スクリーンショットを各手順へ配置（プレースホルダ枠を用意済み）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Yu Gothic"/>
                <a:ea typeface="Yu Gothic"/>
              </a:rPr>
              <a:t>・左右の別：今回は _L（左）。右側 CST も作るか？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Yu Gothic"/>
                <a:ea typeface="Yu Gothic"/>
              </a:rPr>
              <a:t>・コマンドの正確なオプション（mask/角度閾値等）を追記するか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Yu Gothic"/>
                <a:ea typeface="Yu Gothic"/>
              </a:rPr>
              <a:t>・対象者/発表時間に合わせて枚数・粒度を調整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