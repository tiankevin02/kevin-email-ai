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5486400" cy="54864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CST トラクトグラフィー</a:t>
            </a:r>
          </a:p>
          <a:p>
            <a:pPr algn="l"/>
            <a:r>
              <a:rPr sz="4000" b="1">
                <a:solidFill>
                  <a:srgbClr val="35C7EC"/>
                </a:solidFill>
                <a:latin typeface="Yu Gothic"/>
                <a:ea typeface="Yu Gothic"/>
              </a:rPr>
              <a:t>解析手順まとめ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0916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>
                <a:solidFill>
                  <a:srgbClr val="CFDDEA"/>
                </a:solidFill>
                <a:latin typeface="Yu Gothic"/>
                <a:ea typeface="Yu Gothic"/>
              </a:rPr>
              <a:t>皮質脊髄路 (Corticospinal Tract) を MRtrix3 で抽出する</a:t>
            </a:r>
          </a:p>
          <a:p>
            <a:pPr algn="l"/>
            <a:r>
              <a:rPr sz="1500">
                <a:solidFill>
                  <a:srgbClr val="9DB4C8"/>
                </a:solidFill>
                <a:latin typeface="Yu Gothic"/>
                <a:ea typeface="Yu Gothic"/>
              </a:rPr>
              <a:t>DWI → 全脳トラクト生成 → ROI による絞り込み → 可視化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300">
                <a:solidFill>
                  <a:srgbClr val="7F96AB"/>
                </a:solidFill>
                <a:latin typeface="Yu Gothic"/>
                <a:ea typeface="Yu Gothic"/>
              </a:rPr>
              <a:t>2026-06-16  /  Tutorial: MRI/DWI/CST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はじめに — CST と本資料のゴール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皮質脊髄路 (CST) とは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一次運動野 (M1) から脊髄へ運動指令を伝える主要な下行性伝導路。随意運動の中枢で、解剖学的に明確な走行をもつ。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本資料のゴール</a:t>
            </a: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拡散強調画像 (DWI) から CST のみを抽出し、3D トラクトグラフィーとして可視化する一連の手順を再現できるようにする。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371600"/>
            <a:ext cx="49377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8132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500" b="1">
                <a:solidFill>
                  <a:srgbClr val="162A47"/>
                </a:solidFill>
                <a:latin typeface="Yu Gothic"/>
                <a:ea typeface="Yu Gothic"/>
              </a:rPr>
              <a:t>CST の走行（Kandel 図）</a:t>
            </a:r>
          </a:p>
        </p:txBody>
      </p:sp>
      <p:pic>
        <p:nvPicPr>
          <p:cNvPr id="10" name="Picture 9" descr="shot_kan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451" y="1874519"/>
            <a:ext cx="2861977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074920"/>
            <a:ext cx="56692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B2"/>
                </a:solidFill>
                <a:latin typeface="Yu Gothic"/>
                <a:ea typeface="Yu Gothic"/>
              </a:rPr>
              <a:t>CST の通過域（上 → 下）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M1 hand（一次運動野）→ Internal capsule（内包）→ Midbrain（中脳） → Pons（橋）→ Medulla（延髄）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全体ワークフロー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データ準備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OSF から 5tt / wmfod_norm / T1_coreg を取得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mrview で表示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T1 を開き overlay を重ねて確認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を描く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CST 通過域を塗り ROI Editor で保存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全脳トラクト生成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tckgen で 100万本のストリームライン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177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で絞り込み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tckedit で CST のみ抽出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可視化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全神経 → CST のみ を表示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データ準備（OSF Storage）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必要なファイルを取得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OSF Storage から解析に使う .mif を作業フォルダへ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5tt_coreg.mif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5組織タイプ分割（解剖学的拘束用）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wmfod_norm.mif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正規化済み白質 FOD（トラクト生成の方向場）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T1_coreg.mif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DWI と位置合わせ済みの T1 構造画像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作業ディレクトリ: .../Tutrial/MRI/DWI/CST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o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058472"/>
            <a:ext cx="5257800" cy="1088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OSF Storage から .mif をダウンロード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mrview で表示する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作業フォルダへ移動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ターミナルで対象ディレクトリへ cd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mrview で T1 を開く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構造画像を背景として表示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overlay を重ねる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Tool → Overlay から FOD などを重畳して確認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cd /Users/.../Tutrial/MRI/DWI/CST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mrview T1_coreg.mif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フルパスでファイルを指定して mrview を起動する。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_mrview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99218"/>
            <a:ext cx="5257800" cy="36070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mrview で T1_coreg.mif を表示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を描く（ROI Editor）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CST の通過域を塗る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ROI Editor で各通過域をマスクとして描画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名前をつけて保存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領域ごとに &lt;領域&gt;_L.mif として書き出す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解剖の参照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Kandel『Principles of Neural Science』の図を参照して位置決め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5212080" cy="41148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27432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ROI ファイル名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16052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解剖部位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M1_hand_L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一次運動野(手)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Internal_capsule_L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9377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内包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Midbrain_L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30352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中脳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6928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Pons_L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03504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3504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Medulla_L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03504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延髄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ot_roi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91640"/>
            <a:ext cx="5257800" cy="342219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mrview の ROI Editor（右に5つのROIを保存）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6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① 一次運動野・手領域（M1 hand）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3B6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1_hand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309" y="1252728"/>
            <a:ext cx="6115620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3B6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M1_hand_L.mif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1 / 5　（上から1番目）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CST の起始（最上流）。手の運動を司る皮質。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② 内包（Internal capsule）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E09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Internal_capsule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E0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Internal_capsule_L.mif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2 / 5　（上から2番目）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大脳深部の白質路。後脚を CST が通る。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③ 中脳（Midbrain）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2F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idbrain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2F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Midbrain_L.mif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3 / 5　（上から3番目）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中脳レベルの通過域（大脳脚を含む）。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④ 橋（Pons）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4F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Pon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4F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Pons_L.mif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4 / 5　（上から4番目）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脳幹（橋）の通過域。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⑤ 延髄（Medulla）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8A6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edulla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8A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Medulla_L.mif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5 / 5　（上から5番目）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脳幹下端（最下流）。錐体交叉の手前。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全脳トラクト生成（tckgen）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text editor でスクリプト作成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tckgen_CST_L という名前でコマンドを記述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シード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gmwmSeed_coreg.mif（灰白質-白質境界）から発生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ストリームライン数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-select 1000000（100万本）を生成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tckgen gmwmSeed_coreg.mif -select 1000000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     wmfod_norm.mif tracks_10bil.tck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入力の方向場 wmfod_norm.mif（下のスクショ）から発生させる。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_mrview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58017"/>
            <a:ext cx="5257800" cy="388943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入力FOD：wmfod_norm.mif を T1 に overlay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で絞り込む（tckedit）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include で通過条件を指定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5つの ROI を全て通る神経だけを残す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入力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tracks_CST.tck（CST のみ）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実行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bash でスクリプトを指定して走らせる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123943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123943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123943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61687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tckedit -include M1_hand_L.mif -include Internal_capsule_L.mif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Midbrain_L.mif -include Pons_L.mif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Medulla_L.mif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tracks_10bil.tck tracks_CST.tck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bash .../CST/tckgen_CST_L.sh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ot_roi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39986"/>
            <a:ext cx="5257800" cy="925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include する5つの ROI ファイル（Midbrain_L.mif 等）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可視化：全ての神経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Tractography を選択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Tool → Tractography を開く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Run で得た2ファイルを読み込む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 / tracks_CST.tck を選択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脳全体の神経線維（全トラクト）が見える図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まずは絞り込み前の全神経を確認する。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tracto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14622"/>
            <a:ext cx="5257800" cy="35762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全ての神経が見える図（方向色つき）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可視化：CST のみ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選んだ領域だけを通る神経を表示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ROI を全て通過するトラクトのみにチェック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選んだ通過域を通る神経 ＝ CST だけが表示される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確認ポイント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M1 から延髄まで連続して走行しているか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tracks_CST.tck を読み込むと CST のみが描出される。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tracto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12179"/>
            <a:ext cx="5257800" cy="33811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Tractography で2ファイルを選択（tracks_CST.tck）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  <a:ea typeface="Yu Gothic"/>
              </a:rPr>
              <a:t>まとめ &amp; 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35C7EC"/>
                </a:solidFill>
                <a:latin typeface="Yu Gothic"/>
                <a:ea typeface="Yu Gothic"/>
              </a:rPr>
              <a:t>手順サマリ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① データ準備 → ② mrview 表示 → ③ ROI 描画 →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④ tckgen で全脳トラクト → ⑤ tckedit で CST 抽出 →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⑥ Tractography で可視化（全神経 → CST のみ）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554480"/>
            <a:ext cx="5120640" cy="4572000"/>
          </a:xfrm>
          <a:prstGeom prst="roundRect">
            <a:avLst>
              <a:gd name="adj" fmla="val 4000"/>
            </a:avLst>
          </a:prstGeom>
          <a:solidFill>
            <a:srgbClr val="1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783080"/>
            <a:ext cx="45720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35C7EC"/>
                </a:solidFill>
                <a:latin typeface="Yu Gothic"/>
                <a:ea typeface="Yu Gothic"/>
              </a:rPr>
              <a:t>🛠 壁打ちポイント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スクショ反映済：OSF / mrview / ROI Editor / 端末 / Tractography をPDFから抽出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中脳（Midbrain_L）に修正済（旧 Cerebral peduncle）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5つの ROI を1枚ずつ大きく掲載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CST の最終3Dトラクト像を掲載（最終スライド）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CFDDEA"/>
                </a:solidFill>
                <a:latin typeface="Yu Gothic"/>
                <a:ea typeface="Yu Gothic"/>
              </a:rPr>
              <a:t>・左右の別：今回は _L（左）。右側 CST も作るか？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00584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完成：これが CST です（3D トラクトグラフィー）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8138160" cy="5532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1750">
            <a:solidFill>
              <a:srgbClr val="35C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ot_cst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968" y="1252728"/>
            <a:ext cx="6163183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325880"/>
            <a:ext cx="3063240" cy="51206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1554480"/>
            <a:ext cx="2514600" cy="4663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6FB2"/>
                </a:solidFill>
                <a:latin typeface="Yu Gothic"/>
                <a:ea typeface="Yu Gothic"/>
              </a:rPr>
              <a:t>CST（皮質脊髄路）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350">
                <a:solidFill>
                  <a:srgbClr val="1B242E"/>
                </a:solidFill>
                <a:latin typeface="Yu Gothic"/>
                <a:ea typeface="Yu Gothic"/>
              </a:rPr>
              <a:t>塗った5つの ROI を全て通過する神経線維だけを3Dで描出。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62A47"/>
                </a:solidFill>
                <a:latin typeface="Yu Gothic"/>
                <a:ea typeface="Yu Gothic"/>
              </a:rPr>
              <a:t>通過する ROI（上 → 下）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① M1 hand（一次運動野）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② Internal capsule（内包）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③ Midbrain（中脳）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④ Pons（橋）</a:t>
            </a:r>
          </a:p>
          <a:p>
            <a:pPr algn="l">
              <a:spcAft>
                <a:spcPts val="1400"/>
              </a:spcAft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⑤ Medulla（延髄）</a:t>
            </a:r>
          </a:p>
          <a:p>
            <a:pPr algn="l"/>
            <a:r>
              <a:rPr sz="1200">
                <a:solidFill>
                  <a:srgbClr val="5A6B7B"/>
                </a:solidFill>
                <a:latin typeface="Consolas"/>
                <a:ea typeface="Consolas"/>
              </a:rPr>
              <a:t>ファイル: tracks_CST.tck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